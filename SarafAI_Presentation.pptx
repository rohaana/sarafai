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640080"/>
            <a:ext cx="2011680" cy="2011680"/>
          </a:xfrm>
          <a:prstGeom prst="ellipse">
            <a:avLst/>
          </a:prstGeom>
          <a:solidFill>
            <a:srgbClr val="14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38560" y="1463040"/>
            <a:ext cx="1005840" cy="1005840"/>
          </a:xfrm>
          <a:prstGeom prst="ellipse">
            <a:avLst/>
          </a:prstGeom>
          <a:solidFill>
            <a:srgbClr val="1A4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051560"/>
            <a:ext cx="10058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07008"/>
            <a:ext cx="1005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F766E"/>
                </a:solidFill>
                <a:latin typeface="Calibr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SarafAI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99F6E4"/>
                </a:solidFill>
                <a:latin typeface="Calibri"/>
              </a:rPr>
              <a:t>Alternate Credit Scoring &amp; Cash-Flow Intelligence for MSMEs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2C8D4"/>
                </a:solidFill>
                <a:latin typeface="Calibri"/>
              </a:rPr>
              <a:t>Turning khata ledgers, paper receipts and wallet histories into bankable credit scores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Bano Qabil × Alibaba Cloud AI Hackathon 2026  •  Finance Track  •  Team SarafAI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EEAD4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70% of Pakistan's economy is invisible to banks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766E"/>
                </a:solidFill>
                <a:latin typeface="Calibri"/>
              </a:rPr>
              <a:t>Kiryana merchants have no credit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▸  No bank statements, salary slips or collateral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▸  Handwritten khata + paper receipts = unusable data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▸  Banks cannot underwrite → micro-loans denied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▸  Forced to informal lenders at 30–60% interest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▸  Commerce stays undocumented → no tax net, no GDP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394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766E"/>
                </a:solidFill>
                <a:latin typeface="Calibri"/>
              </a:rPr>
              <a:t>The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alibri"/>
              </a:rPr>
              <a:t>70%+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816352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4748B"/>
                </a:solidFill>
                <a:latin typeface="Calibri"/>
              </a:rPr>
              <a:t>of Pakistan's economy is informal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4787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alibri"/>
              </a:rPr>
              <a:t>5M+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621024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4748B"/>
                </a:solidFill>
                <a:latin typeface="Calibri"/>
              </a:rPr>
              <a:t>micro &amp; small businesses, most unbanked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352544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alibri"/>
              </a:rPr>
              <a:t>PKR 9T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425696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4748B"/>
                </a:solidFill>
                <a:latin typeface="Calibri"/>
              </a:rPr>
              <a:t>estimated informal credit need unmet by banks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57216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230368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4748B"/>
                </a:solidFill>
                <a:latin typeface="Calibri"/>
              </a:rPr>
              <a:t>credit-scored kiryana merchants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EEAD4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An AI ledger that scores what banks can't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Calibri"/>
              </a:rPr>
              <a:t>SarafAI ingests the data merchants already produce and generates a verifiable SME Credit Health Score (300–900).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05456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1.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54680"/>
            <a:ext cx="227685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Receipt photos, khata notes,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supplier invoices, wallet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histories (Easypaisa/JazzCash)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983480"/>
            <a:ext cx="1691640" cy="411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  <a:latin typeface="Calibri"/>
              </a:rPr>
              <a:t>Qwen-VL OCR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237744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0712" y="2377440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505456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2. 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3154680"/>
            <a:ext cx="227685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Extract, classify &amp; dedupe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into one verified transaction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ledger per merchant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2" y="4983480"/>
            <a:ext cx="1691640" cy="411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50749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  <a:latin typeface="Calibri"/>
              </a:rPr>
              <a:t>PostgreSQL / AnalyticDB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237744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2784" y="2377440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505456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3.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154680"/>
            <a:ext cx="227685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Six explainable cash-flow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factors → Credit Health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Score with full 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9984" y="4983480"/>
            <a:ext cx="1691640" cy="411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50749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  <a:latin typeface="Calibri"/>
              </a:rPr>
              <a:t>Risk Model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237744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34856" y="2377440"/>
            <a:ext cx="2606040" cy="566928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2505456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4. LEND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154680"/>
            <a:ext cx="2276856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Fintechs/banks originate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collateral-free micro-loans</a:t>
            </a:r>
          </a:p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sized to real cash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92056" y="4983480"/>
            <a:ext cx="1691640" cy="411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92056" y="5074920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F766E"/>
                </a:solidFill>
                <a:latin typeface="Calibri"/>
              </a:rPr>
              <a:t>Lender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EEAD4"/>
                </a:solidFill>
                <a:latin typeface="Calibri"/>
              </a:rPr>
              <a:t>HOW IT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Explainable — not a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Calibri"/>
              </a:rPr>
              <a:t>Every merchant sees exactly what drives their score. Trust drives adoption.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694944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Revenue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459736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Average monthly verified inflow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331720"/>
            <a:ext cx="914400" cy="5669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44144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08376"/>
            <a:ext cx="694944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1810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Cash-flow 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13639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Month-to-month stability (low volatility)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008376"/>
            <a:ext cx="914400" cy="5669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118104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85032"/>
            <a:ext cx="694944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Growth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1304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Revenue trajectory over 8 months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685032"/>
            <a:ext cx="914400" cy="5669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37947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61688"/>
            <a:ext cx="694944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71416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Business activity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89704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Transaction frequency &amp; counterparty diversity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361688"/>
            <a:ext cx="914400" cy="5669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4471416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150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38344"/>
            <a:ext cx="694944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4807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Digital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16636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Share of verifiable (OCR/wallet) records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5038344"/>
            <a:ext cx="914400" cy="5669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0" y="5148072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715000"/>
            <a:ext cx="6949440" cy="5669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2472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Recency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843016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Days since last recorded activity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5715000"/>
            <a:ext cx="914400" cy="5669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5824728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2331720"/>
            <a:ext cx="2743200" cy="3959352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EEAD4"/>
                </a:solidFill>
                <a:latin typeface="Calibri"/>
              </a:rPr>
              <a:t>SCORE BANDS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0175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750–900  Excellent — pre-approved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32735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9F6E4"/>
                </a:solidFill>
                <a:latin typeface="Calibri"/>
              </a:rPr>
              <a:t>16% APR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7673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650–749  Good — bankable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023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9F6E4"/>
                </a:solidFill>
                <a:latin typeface="Calibri"/>
              </a:rPr>
              <a:t>19% APR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45171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550–649  Fair — conditional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77316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9F6E4"/>
                </a:solidFill>
                <a:latin typeface="Calibri"/>
              </a:rPr>
              <a:t>24% APR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26694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&lt; 550  Thin file — keep scanning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552297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9F6E4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EEAD4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From a paper receipt to a loan offer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221991"/>
            <a:ext cx="603504" cy="6035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21991"/>
            <a:ext cx="603504" cy="6035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603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03911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766E"/>
                </a:solidFill>
                <a:latin typeface="Calibri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20824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Credit Health Score with six explainable factors, cash-flow metrics, and an instant collateral-free loan offer sized to actual monthly inflows.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55848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703320"/>
            <a:ext cx="603504" cy="6035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703320"/>
            <a:ext cx="603504" cy="6035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31335"/>
            <a:ext cx="603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520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766E"/>
                </a:solidFill>
                <a:latin typeface="Calibri"/>
              </a:rPr>
              <a:t>Scan Receipt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02152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Drop a receipt photo — OCR (Qwen-VL) extracts date, counterparty, line items and amount with confidence scores. Merchant confirms.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37176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5184648"/>
            <a:ext cx="603504" cy="6035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680" y="5184648"/>
            <a:ext cx="603504" cy="6035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12664"/>
            <a:ext cx="6035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00176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766E"/>
                </a:solidFill>
                <a:latin typeface="Calibri"/>
              </a:rPr>
              <a:t>Instant Rescore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983480"/>
            <a:ext cx="6492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F172A"/>
                </a:solidFill>
                <a:latin typeface="Calibri"/>
              </a:rPr>
              <a:t>The verified transaction hits the ledger and the score recalculates live — merchants literally watch their creditworthiness grow.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4748B"/>
                </a:solidFill>
                <a:latin typeface="Calibri"/>
              </a:rPr>
              <a:t>Zero-dependency web app — runs in any browser, works on a low-end Android phone over 3G.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EEAD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Built on Alibaba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48256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Calibri"/>
              </a:rPr>
              <a:t>Merchant app (web / Android)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Upload photos • connect wallet • view score &amp; loan offers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35808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163824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Intelligence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38728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Qwen-VL OCR (Urdu + English receipts) • transaction classifier • deduplication &amp; fraud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51376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279392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54296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Alibaba Cloud PostgreSQL — verified ledger  |  AnalyticDB — cash-flow analytics at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66944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394959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Scoring &amp; Lending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769864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Cash-flow risk model (6 factors, 300–900) • Lender API • loan offer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828800"/>
            <a:ext cx="10515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Calibri"/>
              </a:rPr>
              <a:t>MVP today: full loop (ingest → extract → reconcile → score → offer) in a single-file app; cloud layers are drop-in for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EEAD4"/>
                </a:solidFill>
                <a:latin typeface="Calibri"/>
              </a:rPr>
              <a:t>ECONOMIC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One score, three layers of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611880" cy="6858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FINANCIAL INCLUSION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>
                <a:solidFill>
                  <a:srgbClr val="0F172A"/>
                </a:solidFill>
                <a:latin typeface="Calibri"/>
              </a:rPr>
              <a:t>Unbanked kiryana merchants get collateral-free micro-loans from fintechs &amp; banks — priced off verified cash flows, not guesswork.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611880" cy="6858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84831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LOWER DEFAULT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>
                <a:solidFill>
                  <a:srgbClr val="0F172A"/>
                </a:solidFill>
                <a:latin typeface="Calibri"/>
              </a:rPr>
              <a:t>Loans underwritten on actual transaction data reduce NPLs for lenders, making tiny-ticket MSME lending commercially viable at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920240"/>
            <a:ext cx="3611880" cy="6858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84831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DOCUMENTED ECONOMY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34640"/>
            <a:ext cx="3063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0">
                <a:solidFill>
                  <a:srgbClr val="0F172A"/>
                </a:solidFill>
                <a:latin typeface="Calibri"/>
              </a:rPr>
              <a:t>Every scanned receipt is a verifiable tax record — organic, incentive-driven documentation of the informal economy into the tax net.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"The fastest way to bank the unbanked is to score what they already do — not to ask them for documents they've never had."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EEAD4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From demo to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9397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EEAD4"/>
                </a:solidFill>
                <a:latin typeface="Calibri"/>
              </a:rPr>
              <a:t>NOW —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112264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Full scoring loop working: ingest → OCR → reconcile → explainable score → loan offer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455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EEAD4"/>
                </a:solidFill>
                <a:latin typeface="Calibri"/>
              </a:rPr>
              <a:t>NEXT 3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63824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Integrate Qwen-VL API for real receipt OCR (Urdu/English) • Easypaisa &amp; JazzCash statement ingestion • Alibaba Cloud PostgreSQL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69079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97095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EEAD4"/>
                </a:solidFill>
                <a:latin typeface="Calibri"/>
              </a:rPr>
              <a:t>MONTHS 3–6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215383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Calibrate risk model with partner fintech repayment data • pilot with 100 kiryana stores in Karachi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2064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48655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5EEAD4"/>
                </a:solidFill>
                <a:latin typeface="Calibri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266944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2E8F0"/>
                </a:solidFill>
                <a:latin typeface="Calibri"/>
              </a:rPr>
              <a:t>Lender marketplace API • SBP sandbox for digital lending • expand to distributors &amp; micro-transporters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SarafAI — Credit for the invisible economy.  Team SarafAI • Bano Qabil × Alibaba Cloud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