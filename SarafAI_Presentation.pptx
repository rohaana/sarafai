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640080"/>
            <a:ext cx="2011680" cy="2011680"/>
          </a:xfrm>
          <a:prstGeom prst="ellipse">
            <a:avLst/>
          </a:prstGeom>
          <a:solidFill>
            <a:srgbClr val="143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338560" y="1463040"/>
            <a:ext cx="1005840" cy="1005840"/>
          </a:xfrm>
          <a:prstGeom prst="ellipse">
            <a:avLst/>
          </a:prstGeom>
          <a:solidFill>
            <a:srgbClr val="1A4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051560"/>
            <a:ext cx="1005840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207008"/>
            <a:ext cx="1005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800" b="1">
                <a:solidFill>
                  <a:srgbClr val="0F766E"/>
                </a:solidFill>
                <a:latin typeface="Calibri"/>
              </a:rPr>
              <a:t>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Calibri"/>
              </a:rPr>
              <a:t>SarafAI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24612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99F6E4"/>
                </a:solidFill>
                <a:latin typeface="Calibri"/>
              </a:rPr>
              <a:t>Alternate Credit Scoring &amp; Cash-Flow Intelligence for MSMEs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977639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C2C8D4"/>
                </a:solidFill>
                <a:latin typeface="Calibri"/>
              </a:rPr>
              <a:t>Turning khata ledgers, paper receipts and wallet histories into bankable credit scores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172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Bano Qabil × Alibaba Cloud AI Hackathon 2026  •  Finance Track  •  Team SarafAI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EEAD4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70% of Pakistan's economy is invisible to banks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5394960" cy="42062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0312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0F766E"/>
                </a:solidFill>
                <a:latin typeface="Calibri"/>
              </a:rPr>
              <a:t>Kiryana merchants have no credit identity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97480"/>
            <a:ext cx="48463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0F172A"/>
                </a:solidFill>
                <a:latin typeface="Calibri"/>
              </a:rPr>
              <a:t>▸  No bank statements, salary slips or collateral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0F172A"/>
                </a:solidFill>
                <a:latin typeface="Calibri"/>
              </a:rPr>
              <a:t>▸  Handwritten khata + paper receipts = unusable data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0F172A"/>
                </a:solidFill>
                <a:latin typeface="Calibri"/>
              </a:rPr>
              <a:t>▸  Banks cannot underwrite → micro-loans denied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0F172A"/>
                </a:solidFill>
                <a:latin typeface="Calibri"/>
              </a:rPr>
              <a:t>▸  Forced to informal lenders at 30–60% interest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0F172A"/>
                </a:solidFill>
                <a:latin typeface="Calibri"/>
              </a:rPr>
              <a:t>▸  Commerce stays undocumented → no tax net, no GDP visibility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828800"/>
            <a:ext cx="539496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10312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0F766E"/>
                </a:solidFill>
                <a:latin typeface="Calibri"/>
              </a:rPr>
              <a:t>The numbers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743200"/>
            <a:ext cx="1737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2563EB"/>
                </a:solidFill>
                <a:latin typeface="Calibri"/>
              </a:rPr>
              <a:t>70%+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2816352"/>
            <a:ext cx="3200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64748B"/>
                </a:solidFill>
                <a:latin typeface="Calibri"/>
              </a:rPr>
              <a:t>of Pakistan's economy is informal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3547872"/>
            <a:ext cx="1737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2563EB"/>
                </a:solidFill>
                <a:latin typeface="Calibri"/>
              </a:rPr>
              <a:t>5M+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3621024"/>
            <a:ext cx="3200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64748B"/>
                </a:solidFill>
                <a:latin typeface="Calibri"/>
              </a:rPr>
              <a:t>micro &amp; small businesses, most unbanked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4352544"/>
            <a:ext cx="1737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2563EB"/>
                </a:solidFill>
                <a:latin typeface="Calibri"/>
              </a:rPr>
              <a:t>PKR 9T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4425696"/>
            <a:ext cx="3200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64748B"/>
                </a:solidFill>
                <a:latin typeface="Calibri"/>
              </a:rPr>
              <a:t>estimated informal credit need unmet by banks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5157216"/>
            <a:ext cx="1737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2563EB"/>
                </a:solidFill>
                <a:latin typeface="Calibri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5230368"/>
            <a:ext cx="3200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64748B"/>
                </a:solidFill>
                <a:latin typeface="Calibri"/>
              </a:rPr>
              <a:t>credit-scored kiryana merchants today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EEAD4"/>
                </a:solidFill>
                <a:latin typeface="Calibri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An AI ledger that scores what banks can't 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64748B"/>
                </a:solidFill>
                <a:latin typeface="Calibri"/>
              </a:rPr>
              <a:t>SarafAI ingests the data merchants already produce and generates a verifiable SME Credit Health Score (300–900).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7744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377440"/>
            <a:ext cx="2606040" cy="566928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505456"/>
            <a:ext cx="2606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1. INGEST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3154680"/>
            <a:ext cx="2276856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>
                <a:solidFill>
                  <a:srgbClr val="0F172A"/>
                </a:solidFill>
                <a:latin typeface="Calibri"/>
              </a:rPr>
              <a:t>Receipt photos, khata notes,</a:t>
            </a:r>
          </a:p>
          <a:p>
            <a:pPr algn="ctr">
              <a:lnSpc>
                <a:spcPct val="100000"/>
              </a:lnSpc>
            </a:pPr>
            <a:r>
              <a:rPr sz="1350" b="0">
                <a:solidFill>
                  <a:srgbClr val="0F172A"/>
                </a:solidFill>
                <a:latin typeface="Calibri"/>
              </a:rPr>
              <a:t>supplier invoices, wallet</a:t>
            </a:r>
          </a:p>
          <a:p>
            <a:pPr algn="ctr">
              <a:lnSpc>
                <a:spcPct val="100000"/>
              </a:lnSpc>
            </a:pPr>
            <a:r>
              <a:rPr sz="1350" b="0">
                <a:solidFill>
                  <a:srgbClr val="0F172A"/>
                </a:solidFill>
                <a:latin typeface="Calibri"/>
              </a:rPr>
              <a:t>histories (Easypaisa/JazzCash)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" y="4983480"/>
            <a:ext cx="1691640" cy="41148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691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0F766E"/>
                </a:solidFill>
                <a:latin typeface="Calibri"/>
              </a:rPr>
              <a:t>Qwen-VL OCR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10712" y="237744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10712" y="2377440"/>
            <a:ext cx="2606040" cy="566928"/>
          </a:xfrm>
          <a:prstGeom prst="roundRect">
            <a:avLst>
              <a:gd name="adj" fmla="val 6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10712" y="2505456"/>
            <a:ext cx="2606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2. RECONCILE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75304" y="3154680"/>
            <a:ext cx="2276856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>
                <a:solidFill>
                  <a:srgbClr val="0F172A"/>
                </a:solidFill>
                <a:latin typeface="Calibri"/>
              </a:rPr>
              <a:t>Extract, classify &amp; dedupe</a:t>
            </a:r>
          </a:p>
          <a:p>
            <a:pPr algn="ctr">
              <a:lnSpc>
                <a:spcPct val="100000"/>
              </a:lnSpc>
            </a:pPr>
            <a:r>
              <a:rPr sz="1350" b="0">
                <a:solidFill>
                  <a:srgbClr val="0F172A"/>
                </a:solidFill>
                <a:latin typeface="Calibri"/>
              </a:rPr>
              <a:t>into one verified transaction</a:t>
            </a:r>
          </a:p>
          <a:p>
            <a:pPr algn="ctr">
              <a:lnSpc>
                <a:spcPct val="100000"/>
              </a:lnSpc>
            </a:pPr>
            <a:r>
              <a:rPr sz="1350" b="0">
                <a:solidFill>
                  <a:srgbClr val="0F172A"/>
                </a:solidFill>
                <a:latin typeface="Calibri"/>
              </a:rPr>
              <a:t>ledger per merchant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67912" y="4983480"/>
            <a:ext cx="1691640" cy="41148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7912" y="5074920"/>
            <a:ext cx="1691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0F766E"/>
                </a:solidFill>
                <a:latin typeface="Calibri"/>
              </a:rPr>
              <a:t>PostgreSQL / AnalyticDB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72784" y="237744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72784" y="2377440"/>
            <a:ext cx="2606040" cy="566928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72784" y="2505456"/>
            <a:ext cx="2606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3. SCORE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7376" y="3154680"/>
            <a:ext cx="2276856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>
                <a:solidFill>
                  <a:srgbClr val="0F172A"/>
                </a:solidFill>
                <a:latin typeface="Calibri"/>
              </a:rPr>
              <a:t>Six explainable cash-flow</a:t>
            </a:r>
          </a:p>
          <a:p>
            <a:pPr algn="ctr">
              <a:lnSpc>
                <a:spcPct val="100000"/>
              </a:lnSpc>
            </a:pPr>
            <a:r>
              <a:rPr sz="1350" b="0">
                <a:solidFill>
                  <a:srgbClr val="0F172A"/>
                </a:solidFill>
                <a:latin typeface="Calibri"/>
              </a:rPr>
              <a:t>factors → Credit Health</a:t>
            </a:r>
          </a:p>
          <a:p>
            <a:pPr algn="ctr">
              <a:lnSpc>
                <a:spcPct val="100000"/>
              </a:lnSpc>
            </a:pPr>
            <a:r>
              <a:rPr sz="1350" b="0">
                <a:solidFill>
                  <a:srgbClr val="0F172A"/>
                </a:solidFill>
                <a:latin typeface="Calibri"/>
              </a:rPr>
              <a:t>Score with full audit trail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29984" y="4983480"/>
            <a:ext cx="1691640" cy="41148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984" y="5074920"/>
            <a:ext cx="1691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0F766E"/>
                </a:solidFill>
                <a:latin typeface="Calibri"/>
              </a:rPr>
              <a:t>Risk Model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34856" y="237744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134856" y="2377440"/>
            <a:ext cx="2606040" cy="566928"/>
          </a:xfrm>
          <a:prstGeom prst="roundRect">
            <a:avLst>
              <a:gd name="adj" fmla="val 6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34856" y="2505456"/>
            <a:ext cx="2606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4. LEND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99448" y="3154680"/>
            <a:ext cx="2276856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>
                <a:solidFill>
                  <a:srgbClr val="0F172A"/>
                </a:solidFill>
                <a:latin typeface="Calibri"/>
              </a:rPr>
              <a:t>Fintechs/banks originate</a:t>
            </a:r>
          </a:p>
          <a:p>
            <a:pPr algn="ctr">
              <a:lnSpc>
                <a:spcPct val="100000"/>
              </a:lnSpc>
            </a:pPr>
            <a:r>
              <a:rPr sz="1350" b="0">
                <a:solidFill>
                  <a:srgbClr val="0F172A"/>
                </a:solidFill>
                <a:latin typeface="Calibri"/>
              </a:rPr>
              <a:t>collateral-free micro-loans</a:t>
            </a:r>
          </a:p>
          <a:p>
            <a:pPr algn="ctr">
              <a:lnSpc>
                <a:spcPct val="100000"/>
              </a:lnSpc>
            </a:pPr>
            <a:r>
              <a:rPr sz="1350" b="0">
                <a:solidFill>
                  <a:srgbClr val="0F172A"/>
                </a:solidFill>
                <a:latin typeface="Calibri"/>
              </a:rPr>
              <a:t>sized to real cash flow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592056" y="4983480"/>
            <a:ext cx="1691640" cy="41148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92056" y="5074920"/>
            <a:ext cx="1691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0F766E"/>
                </a:solidFill>
                <a:latin typeface="Calibri"/>
              </a:rPr>
              <a:t>Lender API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EEAD4"/>
                </a:solidFill>
                <a:latin typeface="Calibri"/>
              </a:rPr>
              <a:t>HOW IT SCORES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Explainable — not a black box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64748B"/>
                </a:solidFill>
                <a:latin typeface="Calibri"/>
              </a:rPr>
              <a:t>Every merchant sees exactly what drives their score. Trust drives adoption.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31720"/>
            <a:ext cx="6949440" cy="566928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441448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Calibri"/>
              </a:rPr>
              <a:t>Revenue scale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2459736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4748B"/>
                </a:solidFill>
                <a:latin typeface="Calibri"/>
              </a:rPr>
              <a:t>Average monthly verified inflow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0" y="2331720"/>
            <a:ext cx="914400" cy="566928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0" y="2441448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Calibri"/>
              </a:rPr>
              <a:t>200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08376"/>
            <a:ext cx="6949440" cy="566928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118104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Calibri"/>
              </a:rPr>
              <a:t>Cash-flow consistency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3136392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4748B"/>
                </a:solidFill>
                <a:latin typeface="Calibri"/>
              </a:rPr>
              <a:t>Month-to-month stability (low volatility)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3008376"/>
            <a:ext cx="914400" cy="566928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311810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Calibri"/>
              </a:rPr>
              <a:t>200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685032"/>
            <a:ext cx="6949440" cy="566928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79476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Calibri"/>
              </a:rPr>
              <a:t>Growth trend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3813048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4748B"/>
                </a:solidFill>
                <a:latin typeface="Calibri"/>
              </a:rPr>
              <a:t>Revenue trajectory over 8 months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60" y="3685032"/>
            <a:ext cx="914400" cy="566928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0" y="379476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Calibri"/>
              </a:rPr>
              <a:t>150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361688"/>
            <a:ext cx="6949440" cy="566928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471416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Calibri"/>
              </a:rPr>
              <a:t>Business activity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4489704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4748B"/>
                </a:solidFill>
                <a:latin typeface="Calibri"/>
              </a:rPr>
              <a:t>Transaction frequency &amp; counterparty diversity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80960" y="4361688"/>
            <a:ext cx="914400" cy="566928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0" y="4471416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Calibri"/>
              </a:rPr>
              <a:t>150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038344"/>
            <a:ext cx="6949440" cy="566928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148072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Calibri"/>
              </a:rPr>
              <a:t>Digital documentation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74720" y="5166360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4748B"/>
                </a:solidFill>
                <a:latin typeface="Calibri"/>
              </a:rPr>
              <a:t>Share of verifiable (OCR/wallet) records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680960" y="5038344"/>
            <a:ext cx="914400" cy="566928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80960" y="5148072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Calibri"/>
              </a:rPr>
              <a:t>100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5715000"/>
            <a:ext cx="6949440" cy="566928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824728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Calibri"/>
              </a:rPr>
              <a:t>Recency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74720" y="5843016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4748B"/>
                </a:solidFill>
                <a:latin typeface="Calibri"/>
              </a:rPr>
              <a:t>Days since last recorded activity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680960" y="5715000"/>
            <a:ext cx="914400" cy="566928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80960" y="5824728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Calibri"/>
              </a:rPr>
              <a:t>100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869680" y="2331720"/>
            <a:ext cx="2743200" cy="3959352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260604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EEAD4"/>
                </a:solidFill>
                <a:latin typeface="Calibri"/>
              </a:rPr>
              <a:t>SCORE BANDS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98280" y="3017520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750–900  Excellent — pre-approved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98280" y="3273552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9F6E4"/>
                </a:solidFill>
                <a:latin typeface="Calibri"/>
              </a:rPr>
              <a:t>16% 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98280" y="3767328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650–749  Good — bankable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98280" y="4023360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9F6E4"/>
                </a:solidFill>
                <a:latin typeface="Calibri"/>
              </a:rPr>
              <a:t>19% APR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98280" y="4517136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550–649  Fair — conditional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98280" y="4773168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9F6E4"/>
                </a:solidFill>
                <a:latin typeface="Calibri"/>
              </a:rPr>
              <a:t>24% APR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98280" y="5266944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&lt; 550  Thin file — keep scanning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98280" y="5522976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9F6E4"/>
                </a:solidFill>
                <a:latin typeface="Calibri"/>
              </a:rPr>
              <a:t>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EEAD4"/>
                </a:solidFill>
                <a:latin typeface="Calibri"/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From a paper receipt to a loan offer in seconds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74519"/>
            <a:ext cx="11064240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221991"/>
            <a:ext cx="603504" cy="603504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221991"/>
            <a:ext cx="603504" cy="603504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350008"/>
            <a:ext cx="6035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039112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766E"/>
                </a:solidFill>
                <a:latin typeface="Calibri"/>
              </a:rPr>
              <a:t>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2020824"/>
            <a:ext cx="6492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0F172A"/>
                </a:solidFill>
                <a:latin typeface="Calibri"/>
              </a:rPr>
              <a:t>Credit Health Score with six explainable factors, cash-flow metrics, and an instant collateral-free loan offer sized to actual monthly inflows.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355848"/>
            <a:ext cx="11064240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3703320"/>
            <a:ext cx="603504" cy="603504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680" y="3703320"/>
            <a:ext cx="603504" cy="603504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831335"/>
            <a:ext cx="6035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3520440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766E"/>
                </a:solidFill>
                <a:latin typeface="Calibri"/>
              </a:rPr>
              <a:t>Scan Receipt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3502152"/>
            <a:ext cx="6492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0F172A"/>
                </a:solidFill>
                <a:latin typeface="Calibri"/>
              </a:rPr>
              <a:t>Drop a receipt photo — OCR (Qwen-VL) extracts date, counterparty, line items and amount with confidence scores. Merchant confirms.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837176"/>
            <a:ext cx="11064240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68680" y="5184648"/>
            <a:ext cx="603504" cy="603504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680" y="5184648"/>
            <a:ext cx="603504" cy="603504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312664"/>
            <a:ext cx="6035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5001768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766E"/>
                </a:solidFill>
                <a:latin typeface="Calibri"/>
              </a:rPr>
              <a:t>Instant Rescore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4983480"/>
            <a:ext cx="6492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0F172A"/>
                </a:solidFill>
                <a:latin typeface="Calibri"/>
              </a:rPr>
              <a:t>The verified transaction hits the ledger and the score recalculates live — merchants literally watch their creditworthiness grow.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64748B"/>
                </a:solidFill>
                <a:latin typeface="Calibri"/>
              </a:rPr>
              <a:t>Zero-dependency web app — opens with a built-in guided tour walking judges through the full loop. Runs in any browser, works on a low-end Android phone over 3G.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EEAD4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Built on Alibaba Cloud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20240"/>
            <a:ext cx="10515600" cy="96012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048256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F172A"/>
                </a:solidFill>
                <a:latin typeface="Calibri"/>
              </a:rPr>
              <a:t>Merchant app (web / Android)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9966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4748B"/>
                </a:solidFill>
                <a:latin typeface="Calibri"/>
              </a:rPr>
              <a:t>Upload photos • connect wallet • view score &amp; loan offers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35808"/>
            <a:ext cx="10515600" cy="96012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3163824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Intelligence layer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538728"/>
            <a:ext cx="9966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FFFFFF"/>
                </a:solidFill>
                <a:latin typeface="Calibri"/>
              </a:rPr>
              <a:t>Qwen-VL OCR (Urdu + English receipts) • transaction classifier • deduplication &amp; fraud checks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51376"/>
            <a:ext cx="10515600" cy="960120"/>
          </a:xfrm>
          <a:prstGeom prst="roundRect">
            <a:avLst>
              <a:gd name="adj" fmla="val 6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4279392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Data 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654296"/>
            <a:ext cx="9966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FFFFFF"/>
                </a:solidFill>
                <a:latin typeface="Calibri"/>
              </a:rPr>
              <a:t>Alibaba Cloud PostgreSQL — verified ledger  |  AnalyticDB — cash-flow analytics at scale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266944"/>
            <a:ext cx="10515600" cy="96012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5394959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Scoring &amp; Lending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769864"/>
            <a:ext cx="9966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FFFFFF"/>
                </a:solidFill>
                <a:latin typeface="Calibri"/>
              </a:rPr>
              <a:t>Cash-flow risk model (6 factors, 300–900) • Lender API • loan offer engine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1828800"/>
            <a:ext cx="10515600" cy="91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64748B"/>
                </a:solidFill>
                <a:latin typeface="Calibri"/>
              </a:rPr>
              <a:t>MVP today: full loop (ingest → extract → reconcile → score → offer) in a single-file app; cloud layers are drop-in for scale.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EEAD4"/>
                </a:solidFill>
                <a:latin typeface="Calibri"/>
              </a:rPr>
              <a:t>ECONOMIC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One score, three layers of impact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361188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920240"/>
            <a:ext cx="3611880" cy="68580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084831"/>
            <a:ext cx="3611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FINANCIAL INCLUSION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834640"/>
            <a:ext cx="306324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50" b="0">
                <a:solidFill>
                  <a:srgbClr val="0F172A"/>
                </a:solidFill>
                <a:latin typeface="Calibri"/>
              </a:rPr>
              <a:t>Unbanked kiryana merchants get collateral-free micro-loans from fintechs &amp; banks — priced off verified cash flows, not guesswork.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920240"/>
            <a:ext cx="361188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89120" y="1920240"/>
            <a:ext cx="3611880" cy="685800"/>
          </a:xfrm>
          <a:prstGeom prst="roundRect">
            <a:avLst>
              <a:gd name="adj" fmla="val 6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2084831"/>
            <a:ext cx="3611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LOWER DEFAULT RATES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834640"/>
            <a:ext cx="306324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50" b="0">
                <a:solidFill>
                  <a:srgbClr val="0F172A"/>
                </a:solidFill>
                <a:latin typeface="Calibri"/>
              </a:rPr>
              <a:t>Loans underwritten on actual transaction data reduce NPLs for lenders, making tiny-ticket MSME lending commercially viable at scale.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920240"/>
            <a:ext cx="361188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00" y="1920240"/>
            <a:ext cx="3611880" cy="685800"/>
          </a:xfrm>
          <a:prstGeom prst="roundRect">
            <a:avLst>
              <a:gd name="adj" fmla="val 6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2084831"/>
            <a:ext cx="3611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DOCUMENTED ECONOMY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2834640"/>
            <a:ext cx="306324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50" b="0">
                <a:solidFill>
                  <a:srgbClr val="0F172A"/>
                </a:solidFill>
                <a:latin typeface="Calibri"/>
              </a:rPr>
              <a:t>Every scanned receipt is a verifiable tax record — organic, incentive-driven documentation of the informal economy into the tax net.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4360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64748B"/>
                </a:solidFill>
                <a:latin typeface="Calibri"/>
              </a:rPr>
              <a:t>"The fastest way to bank the unbanked is to score what they already do — not to ask them for documents they've never had."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5EEAD4"/>
                </a:solidFill>
                <a:latin typeface="Calibri"/>
              </a:rPr>
              <a:t>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Calibri"/>
              </a:rPr>
              <a:t>From demo to deployment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0515600" cy="9144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093976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EEAD4"/>
                </a:solidFill>
                <a:latin typeface="Calibri"/>
              </a:rPr>
              <a:t>NOW — MVP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2112264"/>
            <a:ext cx="749807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E2E8F0"/>
                </a:solidFill>
                <a:latin typeface="Calibri"/>
              </a:rPr>
              <a:t>Full scoring loop working: ingest → OCR → reconcile → explainable score → loan offer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17520"/>
            <a:ext cx="10515600" cy="9144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145536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EEAD4"/>
                </a:solidFill>
                <a:latin typeface="Calibri"/>
              </a:rPr>
              <a:t>NEXT 3 MONTHS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3163824"/>
            <a:ext cx="749807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E2E8F0"/>
                </a:solidFill>
                <a:latin typeface="Calibri"/>
              </a:rPr>
              <a:t>Integrate Qwen-VL API for real receipt OCR (Urdu/English) • Easypaisa &amp; JazzCash statement ingestion • Alibaba Cloud PostgreSQL backend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069079"/>
            <a:ext cx="10515600" cy="9144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197095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EEAD4"/>
                </a:solidFill>
                <a:latin typeface="Calibri"/>
              </a:rPr>
              <a:t>MONTHS 3–6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4215383"/>
            <a:ext cx="749807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E2E8F0"/>
                </a:solidFill>
                <a:latin typeface="Calibri"/>
              </a:rPr>
              <a:t>Calibrate risk model with partner fintech repayment data • pilot with 100 kiryana stores in Karachi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120640"/>
            <a:ext cx="10515600" cy="9144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248655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EEAD4"/>
                </a:solidFill>
                <a:latin typeface="Calibri"/>
              </a:rPr>
              <a:t>SCALE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5266944"/>
            <a:ext cx="749807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E2E8F0"/>
                </a:solidFill>
                <a:latin typeface="Calibri"/>
              </a:rPr>
              <a:t>Lender marketplace API • SBP sandbox for digital lending • expand to distributors &amp; micro-transporters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SarafAI — Credit for the invisible economy.  Team SarafAI • Bano Qabil × Alibaba Cloud AI Hackathon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